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15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DAILY GRIND  |  PRICING &amp; MARGIN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 + Power BI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DAILY GRIND  |  PRICING &amp; MARGIN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 + Power BI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Request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was initiated by a clear operational pricing brief.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67665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image(30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36312"/>
            <a:ext cx="6400800" cy="3088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234440"/>
            <a:ext cx="4114800" cy="4892040"/>
          </a:xfrm>
          <a:prstGeom prst="roundRect">
            <a:avLst>
              <a:gd name="adj" fmla="val 17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882128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management asked for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845552" y="2084832"/>
            <a:ext cx="340156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every product with Gross Margin below 30% in Q3 2025.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year-over-year margin and revenue by category, product and region.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which items need a price increase or discontinuation.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845552" y="4681728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123A3A"/>
          </a:solidFill>
          <a:ln w="12700">
            <a:solidFill>
              <a:srgbClr val="1F5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092440" y="48828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</a:rPr>
              <a:t>Primary business problem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92440" y="513892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Rising COGS is eroding portfolio profitability and requires a pricing response.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Project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analytical chain from raw order data to management action.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154680"/>
          </a:xfrm>
          <a:prstGeom prst="roundRect">
            <a:avLst>
              <a:gd name="adj" fmla="val 3070"/>
            </a:avLst>
          </a:prstGeom>
          <a:solidFill>
            <a:srgbClr val="111C2E"/>
          </a:solidFill>
          <a:ln w="12700">
            <a:solidFill>
              <a:srgbClr val="26344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993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569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13232" y="256032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26609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Business Brief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3749040"/>
            <a:ext cx="17556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Translate the email into measurable analysis questions.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60904" y="3182112"/>
            <a:ext cx="164592" cy="384048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62072" y="1828800"/>
            <a:ext cx="2084832" cy="3154680"/>
          </a:xfrm>
          <a:prstGeom prst="roundRect">
            <a:avLst>
              <a:gd name="adj" fmla="val 3070"/>
            </a:avLst>
          </a:prstGeom>
          <a:solidFill>
            <a:srgbClr val="111C2E"/>
          </a:solidFill>
          <a:ln w="12700">
            <a:solidFill>
              <a:srgbClr val="26344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26664" y="1993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569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026664" y="256032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26664" y="26609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26664" y="3246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SQL Database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26664" y="3749040"/>
            <a:ext cx="17556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Create grid_sales and import orders, customers and products.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74336" y="3182112"/>
            <a:ext cx="164592" cy="384048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75504" y="1828800"/>
            <a:ext cx="2084832" cy="3154680"/>
          </a:xfrm>
          <a:prstGeom prst="roundRect">
            <a:avLst>
              <a:gd name="adj" fmla="val 3070"/>
            </a:avLst>
          </a:prstGeom>
          <a:solidFill>
            <a:srgbClr val="111C2E"/>
          </a:solidFill>
          <a:ln w="12700">
            <a:solidFill>
              <a:srgbClr val="26344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40096" y="1993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569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340096" y="256032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40096" y="26609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SQL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0096" y="3246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 Preparation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40096" y="3749040"/>
            <a:ext cx="17556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Union three years, join dimensions and clean missing revenue.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87768" y="3182112"/>
            <a:ext cx="164592" cy="384048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88936" y="1828800"/>
            <a:ext cx="2084832" cy="3154680"/>
          </a:xfrm>
          <a:prstGeom prst="roundRect">
            <a:avLst>
              <a:gd name="adj" fmla="val 3070"/>
            </a:avLst>
          </a:prstGeom>
          <a:solidFill>
            <a:srgbClr val="111C2E"/>
          </a:solidFill>
          <a:ln w="12700">
            <a:solidFill>
              <a:srgbClr val="26344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53528" y="1993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75569"/>
                </a:solidFill>
              </a:rPr>
              <a:t>04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653528" y="2560320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53528" y="26609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53528" y="3246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Power BI Analysis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653528" y="3749040"/>
            <a:ext cx="17556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Build dynamic KPIs, filters, trends and product breakdowns.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601200" y="3182112"/>
            <a:ext cx="164592" cy="384048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802368" y="1828800"/>
            <a:ext cx="2084832" cy="3154680"/>
          </a:xfrm>
          <a:prstGeom prst="roundRect">
            <a:avLst>
              <a:gd name="adj" fmla="val 3070"/>
            </a:avLst>
          </a:prstGeom>
          <a:solidFill>
            <a:srgbClr val="153B3A"/>
          </a:solidFill>
          <a:ln w="19050">
            <a:solidFill>
              <a:srgbClr val="14B8A6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966960" y="1993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</a:rPr>
              <a:t>05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966960" y="256032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966960" y="266090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966960" y="3246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Recommendations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966960" y="3749040"/>
            <a:ext cx="1755648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Flag low-margin products and propose pricing actions.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423160" y="5577840"/>
            <a:ext cx="736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B8A6"/>
                </a:solidFill>
              </a:rPr>
              <a:t>Deliverable: a decision-ready pricing dashboard supported by traceable SQL logic.</a:t>
            </a:r>
            <a:endParaRPr lang="en-US" sz="16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Data Preparation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analytical dataset was assembled directly in SQL Server before loading into Power BI.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6812280" cy="4983480"/>
          </a:xfrm>
          <a:prstGeom prst="roundRect">
            <a:avLst>
              <a:gd name="adj" fmla="val 1101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499616"/>
            <a:ext cx="6327648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;WITH all_orders AS (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... FROM Orders_2023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UNION ALL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... FROM Orders_2024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UNION ALL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... FROM Orders_2025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a.OrderID, a.CustomerID, c.Region,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a.ProductID, a.OrderDate,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DATEADD(WEEK,DATEDIFF(WEEK,0,a.OrderDate),0) AS week_date,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c.CustomerJoinDate, a.Quantity, a.Revenue,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WHEN a.Revenue IS NULL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THEN p.Price * a.Quantity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ELSE a.Revenue END AS CleanRevenue,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a.Revenue - a.COGS AS Profit,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a.COGS, p.ProductName, p.ProductCategory,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p.Price, p.Base_Cost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all_orders a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Customers c ON a.CustomerID = c.CustomerID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Products  p ON a.ProductID  = p.ProductID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a.CustomerID IS NOT NULL;</a:t>
            </a:r>
            <a:endParaRPr lang="en-US" sz="1110" dirty="0"/>
          </a:p>
        </p:txBody>
      </p:sp>
      <p:sp>
        <p:nvSpPr>
          <p:cNvPr id="6" name="Shape 4"/>
          <p:cNvSpPr/>
          <p:nvPr/>
        </p:nvSpPr>
        <p:spPr>
          <a:xfrm>
            <a:off x="7635240" y="1389888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18120" y="1572768"/>
            <a:ext cx="164592" cy="548640"/>
          </a:xfrm>
          <a:prstGeom prst="roundRect">
            <a:avLst>
              <a:gd name="adj" fmla="val 27778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56448" y="1554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UNION 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56448" y="18013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Combines 2023, 2024 and 2025 orders into one fact dataset.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2532888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18120" y="2715768"/>
            <a:ext cx="164592" cy="548640"/>
          </a:xfrm>
          <a:prstGeom prst="roundRect">
            <a:avLst>
              <a:gd name="adj" fmla="val 2777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56448" y="2697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LEFT JOIN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56448" y="29443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Adds region, customer join date and product attributes.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35240" y="3675888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18120" y="3858768"/>
            <a:ext cx="164592" cy="548640"/>
          </a:xfrm>
          <a:prstGeom prst="roundRect">
            <a:avLst>
              <a:gd name="adj" fmla="val 2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56448" y="3840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CLEAN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56448" y="40873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Replaces missing revenue with Price × Quantity.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35240" y="4818888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818120" y="5001768"/>
            <a:ext cx="164592" cy="548640"/>
          </a:xfrm>
          <a:prstGeom prst="roundRect">
            <a:avLst>
              <a:gd name="adj" fmla="val 2777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56448" y="4983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WEEK START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56448" y="52303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Creates a weekly date field for trend analysis in Power BI.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35240" y="5833872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45552" y="59344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065F46"/>
                </a:solidFill>
              </a:rPr>
              <a:t>Output: one analysis-ready dataset connected through Get Data → SQL Server → Advanced SQL statement.</a:t>
            </a:r>
            <a:endParaRPr lang="en-US" sz="8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 Dashboard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executive view with year, quarter and metric switching.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353312"/>
            <a:ext cx="8458200" cy="4526280"/>
          </a:xfrm>
          <a:prstGeom prst="roundRect">
            <a:avLst>
              <a:gd name="adj" fmla="val 1010"/>
            </a:avLst>
          </a:prstGeom>
          <a:solidFill>
            <a:srgbClr val="1B1B1B"/>
          </a:solidFill>
          <a:ln w="15240">
            <a:solidFill>
              <a:srgbClr val="47556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image(30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29" y="1536192"/>
            <a:ext cx="7953862" cy="41879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326880" y="1444752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111C2E"/>
          </a:solidFill>
          <a:ln w="12700">
            <a:solidFill>
              <a:srgbClr val="26344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528048" y="16093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966960" y="1591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Year &amp; Quarter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528048" y="1956816"/>
            <a:ext cx="184708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</a:rPr>
              <a:t>Filters the portfolio across 2023–2025 and Q1–Q4.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9326880" y="2852928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111C2E"/>
          </a:solidFill>
          <a:ln w="12700">
            <a:solidFill>
              <a:srgbClr val="26344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528048" y="30175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966960" y="29992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Dynamic KPI Selector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528048" y="3364992"/>
            <a:ext cx="184708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</a:rPr>
              <a:t>Switches Customers, Margin, Profit, Quantity and Revenue.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9326880" y="4261104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111C2E"/>
          </a:solidFill>
          <a:ln w="12700">
            <a:solidFill>
              <a:srgbClr val="26344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528048" y="44256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966960" y="44074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Weekly Regional Trend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528048" y="4773168"/>
            <a:ext cx="184708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</a:rPr>
              <a:t>Shows how the selected KPI changes over time by region.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841248" y="60533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The dashboard is designed for fast management scanning: one page, limited visuals and direct access to product analysis.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portfolio remains profitable, but margin quality weakened across the three-year period.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490472"/>
            <a:ext cx="73152" cy="90525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527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Gross Margin — 2023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" y="17830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56.64%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96112" y="231343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22C55E"/>
                </a:solidFill>
              </a:rPr>
              <a:t>Starting point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520440" y="13258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85032" y="1490472"/>
            <a:ext cx="73152" cy="90525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67912" y="1527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Gross Margin — 2024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67912" y="17830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55.06%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867912" y="231343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F59E0B"/>
                </a:solidFill>
              </a:rPr>
              <a:t>−1.58 percentage points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6492240" y="13258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656832" y="1490472"/>
            <a:ext cx="73152" cy="90525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39712" y="1527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Gross Margin — 2025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39712" y="17830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52.43%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839712" y="231343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EF4444"/>
                </a:solidFill>
              </a:rPr>
              <a:t>−2.63 percentage points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9464040" y="132588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28632" y="1490472"/>
            <a:ext cx="73152" cy="90525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11512" y="15270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3-Year Change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11512" y="17830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</a:rPr>
              <a:t>−4.21 pp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811512" y="23134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EF4444"/>
                </a:solidFill>
              </a:rPr>
              <a:t>2023 → 2025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57784" y="2702052"/>
            <a:ext cx="64008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41248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Low-margin products requiring action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" y="35935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Product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98848" y="35935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Margin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32120" y="3593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Priority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" y="3831336"/>
            <a:ext cx="58064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1248" y="39044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Chemex Filters (100 pack)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498848" y="3904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14.58%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532120" y="3867912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32120" y="389534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</a:rPr>
              <a:t>Critical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" y="4325112"/>
            <a:ext cx="58064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1248" y="43982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Minimalist Keychain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498848" y="43982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15.59%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532120" y="4361688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32120" y="43891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</a:rPr>
              <a:t>Critical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2960" y="4818888"/>
            <a:ext cx="58064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1248" y="48920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Logo Hoodie (Black)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498848" y="4892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16.34%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532120" y="4855464"/>
            <a:ext cx="868680" cy="320040"/>
          </a:xfrm>
          <a:prstGeom prst="roundRect">
            <a:avLst>
              <a:gd name="adj" fmla="val 2285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32120" y="48828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</a:rPr>
              <a:t>Critical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" y="53858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498848" y="5385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532120" y="537667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41248" y="571500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23760" y="2862072"/>
            <a:ext cx="4434840" cy="3246120"/>
          </a:xfrm>
          <a:prstGeom prst="roundRect">
            <a:avLst>
              <a:gd name="adj" fmla="val 169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54380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the numbers mean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516368" y="3621024"/>
            <a:ext cx="36576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margin decline is persistent, not a one-off fluctuation.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three severely low-margin products need immediate pricing or portfolio review.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Gooseneck Kettle is closer to the threshold and needs a smaller targeted intervention.</a:t>
            </a:r>
            <a:endParaRPr lang="en-US" sz="1320" dirty="0"/>
          </a:p>
          <a:p>
            <a:pPr marL="184404" indent="-184404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discontinuation decision should also consider demand and revenue, not margin alone.</a:t>
            </a:r>
            <a:endParaRPr lang="en-US" sz="132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are prioritized by margin severity and commercial value.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635240" cy="9144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26344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472184"/>
            <a:ext cx="109728" cy="621792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4721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Chemex Filters (100 pack)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49040" y="14721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Immediate review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" y="1792224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</a:rPr>
              <a:t>Increase price by approximately 20–22% if COGS stays unchanged; discontinue only if demand is weak.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7635240" cy="9144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26344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" y="2633472"/>
            <a:ext cx="109728" cy="621792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6334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Minimalist Keychain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6334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Immediate review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0" y="2953512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</a:rPr>
              <a:t>Apply a similar price increase or remove from the portfolio if it has low sales volume and limited strategic value.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3648456"/>
            <a:ext cx="7635240" cy="9144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26344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" y="3794760"/>
            <a:ext cx="109728" cy="621792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7947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Logo Hoodie (Black)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37947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Immediate review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</a:rPr>
              <a:t>Raise price and validate customer acceptance; discontinue only if both margin and demand remain weak.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40080" y="4809744"/>
            <a:ext cx="7635240" cy="9144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26344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4672" y="4956048"/>
            <a:ext cx="109728" cy="621792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49560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Gooseneck Electric Kettle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49560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Targeted adjustment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5276088"/>
            <a:ext cx="6720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</a:rPr>
              <a:t>Use a smaller price increase or cost reduction to restore Gross Margin above the 30% threshold.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595360" y="1325880"/>
            <a:ext cx="2971800" cy="5285232"/>
          </a:xfrm>
          <a:prstGeom prst="roundRect">
            <a:avLst>
              <a:gd name="adj" fmla="val 2154"/>
            </a:avLst>
          </a:prstGeom>
          <a:solidFill>
            <a:srgbClr val="10233A"/>
          </a:solidFill>
          <a:ln w="12700">
            <a:solidFill>
              <a:srgbClr val="1E3A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942832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Decision Rule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942832" y="219456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17152" y="2148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Low margin + High demand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17152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</a:rPr>
              <a:t>Raise price first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942832" y="303580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17152" y="29900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Low margin + Low demand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217152" y="3264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</a:rPr>
              <a:t>Consider discontinuation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8942832" y="387705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217152" y="38313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Near 30% threshold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17152" y="41056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</a:rPr>
              <a:t>Use a targeted adjustment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8942832" y="4718304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17152" y="46725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High margin + Low demand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17152" y="49469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BD5E1"/>
                </a:solidFill>
              </a:rPr>
              <a:t>Treat as a growth opportunity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8887968" y="5623560"/>
            <a:ext cx="2377440" cy="566928"/>
          </a:xfrm>
          <a:prstGeom prst="roundRect">
            <a:avLst>
              <a:gd name="adj" fmla="val 8065"/>
            </a:avLst>
          </a:prstGeom>
          <a:solidFill>
            <a:srgbClr val="123A3A"/>
          </a:solidFill>
          <a:ln w="12700">
            <a:solidFill>
              <a:srgbClr val="1F5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098280" y="5769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99F6E4"/>
                </a:solidFill>
              </a:rPr>
              <a:t>Assumption: COGS remains constant during the initial pricing simulation.</a:t>
            </a:r>
            <a:endParaRPr lang="en-US" sz="88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Management Action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dashboard findings into controlled commercial action.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329184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78308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901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Validate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6112" y="2514600"/>
            <a:ext cx="19933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Confirm the Q3 2025 filter, product margins and missing-value assumptions.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4133088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41605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2852928"/>
            <a:ext cx="201168" cy="43891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74720" y="1554480"/>
            <a:ext cx="2514600" cy="329184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75888" y="178308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75888" y="1901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Simulate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730752" y="2514600"/>
            <a:ext cx="19933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Model 20–22% price uplifts for critical items and smaller adjustments for near-threshold products.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30752" y="4133088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30752" y="41605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1–2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62472" y="2852928"/>
            <a:ext cx="201168" cy="43891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0" y="1554480"/>
            <a:ext cx="2514600" cy="329184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10528" y="17830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1901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Approve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65392" y="2514600"/>
            <a:ext cx="19933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Review elasticity, competitive pricing and product demand with operations and commercial owners.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65392" y="4133088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65392" y="41605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2–3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97112" y="2852928"/>
            <a:ext cx="201168" cy="43891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144000" y="1554480"/>
            <a:ext cx="2514600" cy="329184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345168" y="178308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45168" y="1901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126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Monitor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400032" y="2514600"/>
            <a:ext cx="1993392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Track revenue, units, gross profit and margin after implementation.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00032" y="4133088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00032" y="41605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234440" y="5230368"/>
            <a:ext cx="973836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508760" y="5468112"/>
            <a:ext cx="9189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8A"/>
                </a:solidFill>
              </a:rPr>
              <a:t>Success metrics: Gross Margin above 30% for flagged products, no material demand collapse, and a measurable improvement in gross profit contribution.</a:t>
            </a:r>
            <a:endParaRPr lang="en-US" sz="12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| Core SQL Query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query used to combine the order years and prepare the Power BI dataset.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201400" cy="5257800"/>
          </a:xfrm>
          <a:prstGeom prst="roundRect">
            <a:avLst>
              <a:gd name="adj" fmla="val 1043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481328"/>
            <a:ext cx="10652760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combining the order years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;WITH all_orders AS (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OrderID, CustomerID, ProductID, OrderDate, Quantity, Revenue, COGS FROM Orders_2023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UNION ALL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OrderID, CustomerID, ProductID, OrderDate, Quantity, Revenue, COGS FROM Orders_2024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UNION ALL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OrderID, CustomerID, ProductID, OrderDate, Quantity, Revenue, COGS FROM Orders_2025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building the main dataset query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a.OrderID,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a.CustomerID,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c.Region,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a.ProductID,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a.OrderDate,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DATEADD(WEEK, DATEDIFF(WEEK, 0, a.OrderDate), 0) AS week_date,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c.CustomerJoinDate,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a.Quantity,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a.Revenue,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WHEN a.Revenue IS NULL THEN p.Price * a.Quantity ELSE a.Revenue END AS cleandrevenue,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a.Revenue - a.COGS AS profit,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a.COGS,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p.ProductName,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p.ProductCategory,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p.Price,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p.Base_Cost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all_orders AS a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customers AS c ON a.CustomerID = c.CustomerID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products AS p ON a.ProductID = p.ProductID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a.CustomerID IS NOT NULL; -- dropping null CustomerID rows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| Dynamic KPI Logic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slicer-driven measure allows the same visuals to switch between key business metrics.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6949440" cy="4297680"/>
          </a:xfrm>
          <a:prstGeom prst="roundRect">
            <a:avLst>
              <a:gd name="adj" fmla="val 1277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10512"/>
            <a:ext cx="64008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 =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TRUE(),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SELECTEDVALUE('Metric Selector'[Metric Selection]) = "Revenue",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SUM(Query[Revenue]),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SELECTEDVALUE('Metric Selector'[Metric Selection]) = "Quantity",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COUNT(Query[OrderID]),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SELECTEDVALUE('Metric Selector'[Metric Selection]) = "Profit",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SUM(Query[profit]),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SELECTEDVALUE('Metric Selector'[Metric Selection]) = "Margin",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(SUM(Query[Revenue]) - SUM(Query[COGS])) / SUM(Query[Revenue]),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 value"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46720" y="1508760"/>
            <a:ext cx="3520440" cy="42976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94192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Why it matters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39328" y="2331720"/>
            <a:ext cx="27432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visual can display Revenue, Profit, Margin, Quantity or Customers.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stays compact and avoids duplicating charts.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can explore different performance views without leaving the page.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66760" y="4846320"/>
            <a:ext cx="2743200" cy="566928"/>
          </a:xfrm>
          <a:prstGeom prst="roundRect">
            <a:avLst>
              <a:gd name="adj" fmla="val 806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13648" y="5001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F46"/>
                </a:solidFill>
              </a:rPr>
              <a:t>Result: cleaner user experience and faster decision-making.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1383</Words>
  <Application>Microsoft Office PowerPoint</Application>
  <PresentationFormat>Widescreen</PresentationFormat>
  <Paragraphs>221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Daily Grind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Daily Grind – Pricing &amp; Margin Analysis</dc:title>
  <dc:subject>End-to-End Pricing and Margin Analysis</dc:subject>
  <dc:creator>Hassan</dc:creator>
  <cp:lastModifiedBy>حسن كنه</cp:lastModifiedBy>
  <cp:revision>5</cp:revision>
  <dcterms:created xsi:type="dcterms:W3CDTF">2026-07-21T00:51:23Z</dcterms:created>
  <dcterms:modified xsi:type="dcterms:W3CDTF">2026-07-21T00:57:01Z</dcterms:modified>
</cp:coreProperties>
</file>